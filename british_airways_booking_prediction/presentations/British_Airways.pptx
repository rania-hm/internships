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101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621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91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41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6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87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590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55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2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61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13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57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46A72-9A08-4519-BE3D-4F57F5E1191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EC666-68CF-4AE9-8E1B-9100D008D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7372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C958D538-7F67-4870-8EE0-4A5BEE8888BA}"/>
              </a:ext>
            </a:extLst>
          </p:cNvPr>
          <p:cNvSpPr/>
          <p:nvPr/>
        </p:nvSpPr>
        <p:spPr>
          <a:xfrm>
            <a:off x="0" y="109061"/>
            <a:ext cx="11578828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GB" sz="4000" dirty="0"/>
              <a:t>British Airways  Booking Prediction Model Summary:</a:t>
            </a:r>
            <a:endParaRPr lang="en-US" sz="39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866AA81-9C25-4FF5-BE1A-05A99BC93EDC}"/>
              </a:ext>
            </a:extLst>
          </p:cNvPr>
          <p:cNvSpPr/>
          <p:nvPr/>
        </p:nvSpPr>
        <p:spPr>
          <a:xfrm>
            <a:off x="-116384" y="1299348"/>
            <a:ext cx="1577861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GB" sz="1950" b="1" dirty="0"/>
              <a:t>Objective</a:t>
            </a:r>
          </a:p>
          <a:p>
            <a:pPr marL="0" indent="0" algn="r">
              <a:lnSpc>
                <a:spcPts val="2500"/>
              </a:lnSpc>
              <a:buNone/>
            </a:pPr>
            <a:endParaRPr lang="en-US" sz="19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8612EFB-43BD-443A-8F9D-5E40E2DECD12}"/>
              </a:ext>
            </a:extLst>
          </p:cNvPr>
          <p:cNvSpPr/>
          <p:nvPr/>
        </p:nvSpPr>
        <p:spPr>
          <a:xfrm>
            <a:off x="0" y="2099786"/>
            <a:ext cx="4238863" cy="132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GB" sz="1600" dirty="0"/>
              <a:t>.</a:t>
            </a:r>
            <a:endParaRPr lang="en-US" sz="15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AAB7AD1-2B6E-404C-A4C1-93038F103085}"/>
              </a:ext>
            </a:extLst>
          </p:cNvPr>
          <p:cNvSpPr/>
          <p:nvPr/>
        </p:nvSpPr>
        <p:spPr>
          <a:xfrm>
            <a:off x="9386426" y="998416"/>
            <a:ext cx="1636543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</a:rPr>
              <a:t>Code sample:</a:t>
            </a:r>
            <a:endParaRPr lang="en-US" sz="19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8B39312-B09E-4F55-B0DB-A7F777674671}"/>
              </a:ext>
            </a:extLst>
          </p:cNvPr>
          <p:cNvSpPr/>
          <p:nvPr/>
        </p:nvSpPr>
        <p:spPr>
          <a:xfrm>
            <a:off x="8499872" y="3963325"/>
            <a:ext cx="3692128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dirty="0"/>
              <a:t>Model Evaluation: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0DB2ECB-B9EA-401C-B919-C72124DD51F6}"/>
              </a:ext>
            </a:extLst>
          </p:cNvPr>
          <p:cNvSpPr/>
          <p:nvPr/>
        </p:nvSpPr>
        <p:spPr>
          <a:xfrm>
            <a:off x="8358634" y="3950911"/>
            <a:ext cx="3842147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5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63C50634-BB08-4CAA-AB36-37981BFD5B76}"/>
              </a:ext>
            </a:extLst>
          </p:cNvPr>
          <p:cNvSpPr/>
          <p:nvPr/>
        </p:nvSpPr>
        <p:spPr>
          <a:xfrm>
            <a:off x="7854850" y="5436572"/>
            <a:ext cx="4238982" cy="103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55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DA3971E8-8A4E-41A9-ADF9-581A879C6CB2}"/>
              </a:ext>
            </a:extLst>
          </p:cNvPr>
          <p:cNvSpPr/>
          <p:nvPr/>
        </p:nvSpPr>
        <p:spPr>
          <a:xfrm>
            <a:off x="0" y="3728665"/>
            <a:ext cx="2337038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950" b="1" dirty="0"/>
              <a:t>Data preparation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92B07E-722C-4616-805F-6528C7FFDBE9}"/>
              </a:ext>
            </a:extLst>
          </p:cNvPr>
          <p:cNvSpPr txBox="1"/>
          <p:nvPr/>
        </p:nvSpPr>
        <p:spPr>
          <a:xfrm>
            <a:off x="121171" y="1777215"/>
            <a:ext cx="30049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Our analysis is built upon a robust dataset comprising approximately 50,000 rows, each represent a unique customer interaction or potential booking attempts, most costumers don’t complete the booking 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3F12E7C9-7230-446C-B485-2AEEC8875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71" y="4082265"/>
            <a:ext cx="273168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encoded with hot encoder  and prepared for Random Forest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balanced using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producing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68,036 training samples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equal class distribution (0: 34,018, 1: 34,018).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8CBF30D-3CFA-4F34-A79F-35A12409B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154" y="3731842"/>
            <a:ext cx="4907226" cy="266665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EE123FD-1F4A-45C3-B47D-17AA1C9FA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102" y="1699110"/>
            <a:ext cx="3692129" cy="168371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94B9ED3-C25B-4000-B140-29D2729080F1}"/>
              </a:ext>
            </a:extLst>
          </p:cNvPr>
          <p:cNvSpPr txBox="1"/>
          <p:nvPr/>
        </p:nvSpPr>
        <p:spPr>
          <a:xfrm>
            <a:off x="8653564" y="1404936"/>
            <a:ext cx="32199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Random Forest Classifier</a:t>
            </a:r>
            <a:r>
              <a:rPr lang="en-GB" sz="1200" dirty="0"/>
              <a:t> with tuned parameters</a:t>
            </a:r>
          </a:p>
        </p:txBody>
      </p:sp>
      <p:sp>
        <p:nvSpPr>
          <p:cNvPr id="45" name="Rectangle 7">
            <a:extLst>
              <a:ext uri="{FF2B5EF4-FFF2-40B4-BE49-F238E27FC236}">
                <a16:creationId xmlns:a16="http://schemas.microsoft.com/office/drawing/2014/main" id="{E2F869F7-3E5C-4263-B0EF-43BA82B84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717" y="1638851"/>
            <a:ext cx="4963393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 lead ,Flight duration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origin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strongest predictors of booking completion.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shorter purchase lead time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booking from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countries (Malaysia, Australia, Indonesia)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higher likelihood to complete bookings.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performs well in identifying potential buyers (Recall 70.5%) but precision is moderate, indicating some false positives.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insights can guide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targeting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offers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conversion.</a:t>
            </a: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CEF5A349-FB86-47E4-8D21-F432E5C191A8}"/>
              </a:ext>
            </a:extLst>
          </p:cNvPr>
          <p:cNvSpPr/>
          <p:nvPr/>
        </p:nvSpPr>
        <p:spPr>
          <a:xfrm>
            <a:off x="4605680" y="1063089"/>
            <a:ext cx="1636543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</a:rPr>
              <a:t>Key insight:</a:t>
            </a:r>
            <a:endParaRPr lang="en-US" sz="1950" dirty="0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351038FB-BD7E-42FD-8133-9C2A0A8A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3235" y="4320214"/>
            <a:ext cx="36605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72.1%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1 (booking) metrics: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Precision = 31.0%, Recall = 70.5%, F1 = 0.431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latin typeface="Arial" panose="020B0604020202020204" pitchFamily="34" charset="0"/>
              </a:rPr>
              <a:t>[[6158   2346]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latin typeface="Arial" panose="020B0604020202020204" pitchFamily="34" charset="0"/>
              </a:rPr>
              <a:t>[441      1055]]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0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1F2A5D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198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Geist 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9</cp:revision>
  <dcterms:created xsi:type="dcterms:W3CDTF">2025-12-12T19:28:41Z</dcterms:created>
  <dcterms:modified xsi:type="dcterms:W3CDTF">2025-12-12T21:14:45Z</dcterms:modified>
</cp:coreProperties>
</file>